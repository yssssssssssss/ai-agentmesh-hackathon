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56be4d0614a70" /><Relationship Type="http://schemas.openxmlformats.org/officeDocument/2006/relationships/extended-properties" Target="/docProps/app.xml" Id="R99dfcc53ab964fba" /><Relationship Type="http://schemas.openxmlformats.org/officeDocument/2006/relationships/officeDocument" Target="/ppt/presentation.xml" Id="R52c33ff607cd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d9f80f770042fb"/>
  </p:sldMasterIdLst>
  <p:notesMasterIdLst>
    <p:notesMasterId xmlns:r="http://schemas.openxmlformats.org/officeDocument/2006/relationships" r:id="Ra385cc47ab9a4d71"/>
  </p:notesMasterIdLst>
  <p:sldIdLst>
    <p:sldId xmlns:r="http://schemas.openxmlformats.org/officeDocument/2006/relationships" id="256" r:id="R8fa4ad0e1db84621"/>
    <p:sldId xmlns:r="http://schemas.openxmlformats.org/officeDocument/2006/relationships" id="257" r:id="Re0813c1864054891"/>
    <p:sldId xmlns:r="http://schemas.openxmlformats.org/officeDocument/2006/relationships" id="258" r:id="Rc9320a542c4f47fa"/>
    <p:sldId xmlns:r="http://schemas.openxmlformats.org/officeDocument/2006/relationships" id="259" r:id="R6595e601405a4057"/>
    <p:sldId xmlns:r="http://schemas.openxmlformats.org/officeDocument/2006/relationships" id="260" r:id="R9dcf4d45c9ad4498"/>
    <p:sldId xmlns:r="http://schemas.openxmlformats.org/officeDocument/2006/relationships" id="261" r:id="R794bb5b424a943fe"/>
    <p:sldId xmlns:r="http://schemas.openxmlformats.org/officeDocument/2006/relationships" id="262" r:id="R5cb248bae4da47d3"/>
    <p:sldId xmlns:r="http://schemas.openxmlformats.org/officeDocument/2006/relationships" id="263" r:id="R7a405d82d56d46ba"/>
    <p:sldId xmlns:r="http://schemas.openxmlformats.org/officeDocument/2006/relationships" id="264" r:id="R9ade2fec33534cc1"/>
    <p:sldId xmlns:r="http://schemas.openxmlformats.org/officeDocument/2006/relationships" id="265" r:id="Ra753730debe04549"/>
    <p:sldId xmlns:r="http://schemas.openxmlformats.org/officeDocument/2006/relationships" id="266" r:id="R692c02adfbf84a7b"/>
    <p:sldId xmlns:r="http://schemas.openxmlformats.org/officeDocument/2006/relationships" id="267" r:id="R9c55a66d08674c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40f8cd452481b" /><Relationship Type="http://schemas.openxmlformats.org/officeDocument/2006/relationships/slideMaster" Target="/ppt/slideMasters/slideMaster1.xml" Id="R1ed9f80f770042fb" /><Relationship Type="http://schemas.openxmlformats.org/officeDocument/2006/relationships/notesMaster" Target="/ppt/notesMasters/notesMaster1.xml" Id="Ra385cc47ab9a4d71" /><Relationship Type="http://schemas.openxmlformats.org/officeDocument/2006/relationships/presProps" Target="/ppt/presProps.xml" Id="Ra9bb604d00ca4553" /><Relationship Type="http://schemas.openxmlformats.org/officeDocument/2006/relationships/tableStyles" Target="/ppt/tableStyles.xml" Id="Ra7b81d2d6a7a4e72" /><Relationship Type="http://schemas.openxmlformats.org/officeDocument/2006/relationships/slide" Target="/ppt/slides/slide1.xml" Id="R8fa4ad0e1db84621" /><Relationship Type="http://schemas.openxmlformats.org/officeDocument/2006/relationships/slide" Target="/ppt/slides/slide2.xml" Id="Re0813c1864054891" /><Relationship Type="http://schemas.openxmlformats.org/officeDocument/2006/relationships/slide" Target="/ppt/slides/slide3.xml" Id="Rc9320a542c4f47fa" /><Relationship Type="http://schemas.openxmlformats.org/officeDocument/2006/relationships/slide" Target="/ppt/slides/slide4.xml" Id="R6595e601405a4057" /><Relationship Type="http://schemas.openxmlformats.org/officeDocument/2006/relationships/slide" Target="/ppt/slides/slide5.xml" Id="R9dcf4d45c9ad4498" /><Relationship Type="http://schemas.openxmlformats.org/officeDocument/2006/relationships/slide" Target="/ppt/slides/slide6.xml" Id="R794bb5b424a943fe" /><Relationship Type="http://schemas.openxmlformats.org/officeDocument/2006/relationships/slide" Target="/ppt/slides/slide7.xml" Id="R5cb248bae4da47d3" /><Relationship Type="http://schemas.openxmlformats.org/officeDocument/2006/relationships/slide" Target="/ppt/slides/slide8.xml" Id="R7a405d82d56d46ba" /><Relationship Type="http://schemas.openxmlformats.org/officeDocument/2006/relationships/slide" Target="/ppt/slides/slide9.xml" Id="R9ade2fec33534cc1" /><Relationship Type="http://schemas.openxmlformats.org/officeDocument/2006/relationships/slide" Target="/ppt/slides/slide10.xml" Id="Ra753730debe04549" /><Relationship Type="http://schemas.openxmlformats.org/officeDocument/2006/relationships/slide" Target="/ppt/slides/slide11.xml" Id="R692c02adfbf84a7b" /><Relationship Type="http://schemas.openxmlformats.org/officeDocument/2006/relationships/slide" Target="/ppt/slides/slide12.xml" Id="R9c55a66d08674c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108a9156c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93b277fc24af8" /><Relationship Type="http://schemas.openxmlformats.org/officeDocument/2006/relationships/notesMaster" Target="/ppt/notesMasters/notesMaster1.xml" Id="R848b7564ca2840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982112e1c4f10" /><Relationship Type="http://schemas.openxmlformats.org/officeDocument/2006/relationships/notesMaster" Target="/ppt/notesMasters/notesMaster1.xml" Id="R5cd24f992d96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b404b79d94a60" /><Relationship Type="http://schemas.openxmlformats.org/officeDocument/2006/relationships/notesMaster" Target="/ppt/notesMasters/notesMaster1.xml" Id="Rde74da1b89f941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34ac81dfe49d9" /><Relationship Type="http://schemas.openxmlformats.org/officeDocument/2006/relationships/notesMaster" Target="/ppt/notesMasters/notesMaster1.xml" Id="R6dd0a76e861944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bb9adaae2f406a" /><Relationship Type="http://schemas.openxmlformats.org/officeDocument/2006/relationships/notesMaster" Target="/ppt/notesMasters/notesMaster1.xml" Id="Ra702873c968a44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a9ce51b4d464f" /><Relationship Type="http://schemas.openxmlformats.org/officeDocument/2006/relationships/notesMaster" Target="/ppt/notesMasters/notesMaster1.xml" Id="R828a102d978c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cb44388d024ed7" /><Relationship Type="http://schemas.openxmlformats.org/officeDocument/2006/relationships/notesMaster" Target="/ppt/notesMasters/notesMaster1.xml" Id="R6ee9712ddb4246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bdf5d00e94575" /><Relationship Type="http://schemas.openxmlformats.org/officeDocument/2006/relationships/notesMaster" Target="/ppt/notesMasters/notesMaster1.xml" Id="R416d53aa35cf4c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2b37f2610d4635" /><Relationship Type="http://schemas.openxmlformats.org/officeDocument/2006/relationships/notesMaster" Target="/ppt/notesMasters/notesMaster1.xml" Id="Rfff6e45dffda4c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b6a3a4aa24570" /><Relationship Type="http://schemas.openxmlformats.org/officeDocument/2006/relationships/notesMaster" Target="/ppt/notesMasters/notesMaster1.xml" Id="R3a16de3fd487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076068413403a" /><Relationship Type="http://schemas.openxmlformats.org/officeDocument/2006/relationships/notesMaster" Target="/ppt/notesMasters/notesMaster1.xml" Id="R60155849326345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51f5682eb4181" /><Relationship Type="http://schemas.openxmlformats.org/officeDocument/2006/relationships/notesMaster" Target="/ppt/notesMasters/notesMaster1.xml" Id="R0643d3510752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62418d3a84e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b3b67d6fee4386" /><Relationship Type="http://schemas.openxmlformats.org/officeDocument/2006/relationships/slideLayout" Target="/ppt/slideLayouts/slideLayout1.xml" Id="R3db084e0b6b942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084e0b6b942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a0ab6f3244c6" /><Relationship Type="http://schemas.openxmlformats.org/officeDocument/2006/relationships/notesSlide" Target="/ppt/notesSlides/notesSlide1.xml" Id="R8c9bdf6d39d349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d027d96b74ec3" /><Relationship Type="http://schemas.openxmlformats.org/officeDocument/2006/relationships/notesSlide" Target="/ppt/notesSlides/notesSlide2.xml" Id="Re99146d220e74c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0886970f2443a" /><Relationship Type="http://schemas.openxmlformats.org/officeDocument/2006/relationships/notesSlide" Target="/ppt/notesSlides/notesSlide3.xml" Id="R5d74abb1d17441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1518b6ae74bf5" /><Relationship Type="http://schemas.openxmlformats.org/officeDocument/2006/relationships/notesSlide" Target="/ppt/notesSlides/notesSlide4.xml" Id="R87d7f6054958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15c9639f143d8" /><Relationship Type="http://schemas.openxmlformats.org/officeDocument/2006/relationships/notesSlide" Target="/ppt/notesSlides/notesSlide5.xml" Id="R3fbdf342e93b42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684f6a1940b8" /><Relationship Type="http://schemas.openxmlformats.org/officeDocument/2006/relationships/notesSlide" Target="/ppt/notesSlides/notesSlide6.xml" Id="R3132d3cfb19c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da45abf7e4102" /><Relationship Type="http://schemas.openxmlformats.org/officeDocument/2006/relationships/notesSlide" Target="/ppt/notesSlides/notesSlide7.xml" Id="R116cdc7a8a6d40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8fd140ed04f32" /><Relationship Type="http://schemas.openxmlformats.org/officeDocument/2006/relationships/notesSlide" Target="/ppt/notesSlides/notesSlide8.xml" Id="Red4a4e8ec03342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c0853a234b7e" /><Relationship Type="http://schemas.openxmlformats.org/officeDocument/2006/relationships/notesSlide" Target="/ppt/notesSlides/notesSlide9.xml" Id="R11bafceb5f86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85584a57a4e67" /><Relationship Type="http://schemas.openxmlformats.org/officeDocument/2006/relationships/notesSlide" Target="/ppt/notesSlides/notesSlide10.xml" Id="R3d491493be49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276ddbc9b4db7" /><Relationship Type="http://schemas.openxmlformats.org/officeDocument/2006/relationships/notesSlide" Target="/ppt/notesSlides/notesSlide11.xml" Id="R761b60db5a6a4c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bfc8e4c8d4ed3" /><Relationship Type="http://schemas.openxmlformats.org/officeDocument/2006/relationships/notesSlide" Target="/ppt/notesSlides/notesSlide12.xml" Id="R42fb75d0b385495b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658368" y="5669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1">
                <a:solidFill>
                  <a:srgbClr val="94A3B8"/>
                </a:solidFill>
                <a:latin typeface="Microsoft YaHei"/>
                <a:ea typeface="Microsoft YaHei"/>
              </a:rPr>
              <a:t>HACKATHON PITCH</a:t>
            </a:r>
          </a:p>
        </p:txBody>
      </p:sp>
      <p:sp>
        <p:nvSpPr>
          <p:cNvPr id="5" name="Shape 5"/>
          <p:cNvSpPr/>
          <p:nvPr/>
        </p:nvSpPr>
        <p:spPr>
          <a:xfrm>
            <a:off x="658368" y="960120"/>
            <a:ext cx="841248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4800" b="1">
                <a:solidFill>
                  <a:srgbClr val="F8FAFC"/>
                </a:solidFill>
                <a:latin typeface="Microsoft YaHei"/>
                <a:ea typeface="Microsoft YaHei"/>
              </a:rPr>
              <a:t>AgentMesh</a:t>
            </a:r>
          </a:p>
        </p:txBody>
      </p:sp>
      <p:sp>
        <p:nvSpPr>
          <p:cNvPr id="6" name="Shape 6"/>
          <p:cNvSpPr/>
          <p:nvPr/>
        </p:nvSpPr>
        <p:spPr>
          <a:xfrm>
            <a:off x="713232" y="1847088"/>
            <a:ext cx="87782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700" b="1">
                <a:solidFill>
                  <a:srgbClr val="F8FAFC"/>
                </a:solidFill>
                <a:latin typeface="Microsoft YaHei"/>
                <a:ea typeface="Microsoft YaHei"/>
              </a:rPr>
              <a:t>团队数字员工网络：会协作、会记忆、有治理</a:t>
            </a:r>
          </a:p>
        </p:txBody>
      </p:sp>
      <p:sp>
        <p:nvSpPr>
          <p:cNvPr id="7" name="Shape 7"/>
          <p:cNvSpPr/>
          <p:nvPr/>
        </p:nvSpPr>
        <p:spPr>
          <a:xfrm>
            <a:off x="749808" y="26974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把个人 AI 助手升级成团队可用的数字员工体系，让资料、数据、风险和记忆围绕同一条工作链路接力。</a:t>
            </a:r>
          </a:p>
        </p:txBody>
      </p:sp>
      <p:sp>
        <p:nvSpPr>
          <p:cNvPr id="8" name="Shape 8"/>
          <p:cNvSpPr/>
          <p:nvPr/>
        </p:nvSpPr>
        <p:spPr>
          <a:xfrm>
            <a:off x="749808" y="3520440"/>
            <a:ext cx="2057400" cy="196596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60A5FA"/>
            </a:solidFill>
          </a:ln>
        </p:spPr>
      </p:sp>
      <p:sp>
        <p:nvSpPr>
          <p:cNvPr id="9" name="Shape 9"/>
          <p:cNvSpPr/>
          <p:nvPr/>
        </p:nvSpPr>
        <p:spPr>
          <a:xfrm>
            <a:off x="859536" y="3666744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2400" b="0">
                <a:solidFill>
                  <a:srgbClr val="F8FAFC"/>
                </a:solidFill>
                <a:latin typeface="Microsoft YaHei"/>
                <a:ea typeface="Microsoft YaHei"/>
              </a:rPr>
              <a:t>🔎</a:t>
            </a:r>
          </a:p>
        </p:txBody>
      </p:sp>
      <p:sp>
        <p:nvSpPr>
          <p:cNvPr id="10" name="Shape 10"/>
          <p:cNvSpPr/>
          <p:nvPr/>
        </p:nvSpPr>
        <p:spPr>
          <a:xfrm>
            <a:off x="877824" y="4178808"/>
            <a:ext cx="18013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找资料</a:t>
            </a:r>
          </a:p>
        </p:txBody>
      </p:sp>
      <p:sp>
        <p:nvSpPr>
          <p:cNvPr id="11" name="Shape 11"/>
          <p:cNvSpPr/>
          <p:nvPr/>
        </p:nvSpPr>
        <p:spPr>
          <a:xfrm>
            <a:off x="932688" y="4581144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000" b="0">
                <a:solidFill>
                  <a:srgbClr val="94A3B8"/>
                </a:solidFill>
                <a:latin typeface="Microsoft YaHei"/>
                <a:ea typeface="Microsoft YaHei"/>
              </a:rPr>
              <a:t>相似项目 / 外部资料 / 文档来源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2825496" y="4507992"/>
            <a:ext cx="128016" cy="9144"/>
          </a:xfrm>
          <a:prstGeom prst="straightConnector1">
            <a:avLst/>
          </a:prstGeom>
          <a:ln w="15000">
            <a:solidFill>
              <a:srgbClr val="94A3B8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2971800" y="3520440"/>
            <a:ext cx="2057400" cy="196596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34D399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081528" y="3666744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2400" b="0">
                <a:solidFill>
                  <a:srgbClr val="F8FAFC"/>
                </a:solidFill>
                <a:latin typeface="Microsoft YaHei"/>
                <a:ea typeface="Microsoft YaHei"/>
              </a:rPr>
              <a:t>📊</a:t>
            </a:r>
          </a:p>
        </p:txBody>
      </p:sp>
      <p:sp>
        <p:nvSpPr>
          <p:cNvPr id="15" name="Shape 15"/>
          <p:cNvSpPr/>
          <p:nvPr/>
        </p:nvSpPr>
        <p:spPr>
          <a:xfrm>
            <a:off x="3099816" y="4178808"/>
            <a:ext cx="18013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查数据</a:t>
            </a:r>
          </a:p>
        </p:txBody>
      </p:sp>
      <p:sp>
        <p:nvSpPr>
          <p:cNvPr id="16" name="Shape 16"/>
          <p:cNvSpPr/>
          <p:nvPr/>
        </p:nvSpPr>
        <p:spPr>
          <a:xfrm>
            <a:off x="3154680" y="4581144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000" b="0">
                <a:solidFill>
                  <a:srgbClr val="94A3B8"/>
                </a:solidFill>
                <a:latin typeface="Microsoft YaHei"/>
                <a:ea typeface="Microsoft YaHei"/>
              </a:rPr>
              <a:t>点击率 / 转化率 / 业务指标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5047488" y="4507992"/>
            <a:ext cx="128016" cy="9144"/>
          </a:xfrm>
          <a:prstGeom prst="straightConnector1">
            <a:avLst/>
          </a:prstGeom>
          <a:ln w="15000">
            <a:solidFill>
              <a:srgbClr val="94A3B8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5193792" y="3520440"/>
            <a:ext cx="2057400" cy="196596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FB923C"/>
            </a:solidFill>
          </a:ln>
        </p:spPr>
      </p:sp>
      <p:sp>
        <p:nvSpPr>
          <p:cNvPr id="19" name="Shape 19"/>
          <p:cNvSpPr/>
          <p:nvPr/>
        </p:nvSpPr>
        <p:spPr>
          <a:xfrm>
            <a:off x="5303520" y="3666744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2400" b="0">
                <a:solidFill>
                  <a:srgbClr val="F8FAFC"/>
                </a:solidFill>
                <a:latin typeface="Microsoft YaHei"/>
                <a:ea typeface="Microsoft YaHei"/>
              </a:rPr>
              <a:t>🛡️</a:t>
            </a:r>
          </a:p>
        </p:txBody>
      </p:sp>
      <p:sp>
        <p:nvSpPr>
          <p:cNvPr id="20" name="Shape 20"/>
          <p:cNvSpPr/>
          <p:nvPr/>
        </p:nvSpPr>
        <p:spPr>
          <a:xfrm>
            <a:off x="5321808" y="4178808"/>
            <a:ext cx="18013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审风险</a:t>
            </a:r>
          </a:p>
        </p:txBody>
      </p:sp>
      <p:sp>
        <p:nvSpPr>
          <p:cNvPr id="21" name="Shape 21"/>
          <p:cNvSpPr/>
          <p:nvPr/>
        </p:nvSpPr>
        <p:spPr>
          <a:xfrm>
            <a:off x="5376672" y="4581144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000" b="0">
                <a:solidFill>
                  <a:srgbClr val="94A3B8"/>
                </a:solidFill>
                <a:latin typeface="Microsoft YaHei"/>
                <a:ea typeface="Microsoft YaHei"/>
              </a:rPr>
              <a:t>素材授权 / Prompt 注入 / 高危工具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7269480" y="4507992"/>
            <a:ext cx="128016" cy="9144"/>
          </a:xfrm>
          <a:prstGeom prst="straightConnector1">
            <a:avLst/>
          </a:prstGeom>
          <a:ln w="15000">
            <a:solidFill>
              <a:srgbClr val="94A3B8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7415784" y="3520440"/>
            <a:ext cx="2057400" cy="196596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A78BFA"/>
            </a:solidFill>
          </a:ln>
        </p:spPr>
      </p:sp>
      <p:sp>
        <p:nvSpPr>
          <p:cNvPr id="24" name="Shape 24"/>
          <p:cNvSpPr/>
          <p:nvPr/>
        </p:nvSpPr>
        <p:spPr>
          <a:xfrm>
            <a:off x="7525512" y="3666744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2400" b="0">
                <a:solidFill>
                  <a:srgbClr val="F8FAFC"/>
                </a:solidFill>
                <a:latin typeface="Microsoft YaHei"/>
                <a:ea typeface="Microsoft YaHei"/>
              </a:rPr>
              <a:t>🧠</a:t>
            </a:r>
          </a:p>
        </p:txBody>
      </p:sp>
      <p:sp>
        <p:nvSpPr>
          <p:cNvPr id="25" name="Shape 25"/>
          <p:cNvSpPr/>
          <p:nvPr/>
        </p:nvSpPr>
        <p:spPr>
          <a:xfrm>
            <a:off x="7543800" y="4178808"/>
            <a:ext cx="18013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沉淀记忆</a:t>
            </a:r>
          </a:p>
        </p:txBody>
      </p:sp>
      <p:sp>
        <p:nvSpPr>
          <p:cNvPr id="26" name="Shape 26"/>
          <p:cNvSpPr/>
          <p:nvPr/>
        </p:nvSpPr>
        <p:spPr>
          <a:xfrm>
            <a:off x="7598664" y="4581144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000" b="0">
                <a:solidFill>
                  <a:srgbClr val="94A3B8"/>
                </a:solidFill>
                <a:latin typeface="Microsoft YaHei"/>
                <a:ea typeface="Microsoft YaHei"/>
              </a:rPr>
              <a:t>个人 / 项目 / 团队三级资产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9491472" y="4507992"/>
            <a:ext cx="128016" cy="9144"/>
          </a:xfrm>
          <a:prstGeom prst="straightConnector1">
            <a:avLst/>
          </a:prstGeom>
          <a:ln w="15000">
            <a:solidFill>
              <a:srgbClr val="94A3B8"/>
            </a:solidFill>
            <a:tailEnd type="triangle"/>
          </a:ln>
        </p:spPr>
      </p:cxnSp>
      <p:sp>
        <p:nvSpPr>
          <p:cNvPr id="28" name="Shape 28"/>
          <p:cNvSpPr/>
          <p:nvPr/>
        </p:nvSpPr>
        <p:spPr>
          <a:xfrm>
            <a:off x="9637776" y="3520440"/>
            <a:ext cx="2057400" cy="196596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F87171"/>
            </a:solidFill>
          </a:ln>
        </p:spPr>
      </p:sp>
      <p:sp>
        <p:nvSpPr>
          <p:cNvPr id="29" name="Shape 29"/>
          <p:cNvSpPr/>
          <p:nvPr/>
        </p:nvSpPr>
        <p:spPr>
          <a:xfrm>
            <a:off x="9747504" y="3666744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2400" b="0">
                <a:solidFill>
                  <a:srgbClr val="F8FAFC"/>
                </a:solidFill>
                <a:latin typeface="Microsoft YaHei"/>
                <a:ea typeface="Microsoft YaHei"/>
              </a:rPr>
              <a:t>🤝</a:t>
            </a:r>
          </a:p>
        </p:txBody>
      </p:sp>
      <p:sp>
        <p:nvSpPr>
          <p:cNvPr id="30" name="Shape 30"/>
          <p:cNvSpPr/>
          <p:nvPr/>
        </p:nvSpPr>
        <p:spPr>
          <a:xfrm>
            <a:off x="9765792" y="4178808"/>
            <a:ext cx="1801368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Agent 互助</a:t>
            </a:r>
          </a:p>
        </p:txBody>
      </p:sp>
      <p:sp>
        <p:nvSpPr>
          <p:cNvPr id="31" name="Shape 31"/>
          <p:cNvSpPr/>
          <p:nvPr/>
        </p:nvSpPr>
        <p:spPr>
          <a:xfrm>
            <a:off x="9820656" y="4581144"/>
            <a:ext cx="169164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1000" b="0">
                <a:solidFill>
                  <a:srgbClr val="94A3B8"/>
                </a:solidFill>
                <a:latin typeface="Microsoft YaHei"/>
                <a:ea typeface="Microsoft YaHei"/>
              </a:rPr>
              <a:t>供需信号 / 自动匹配 / 贡献记录</a:t>
            </a:r>
          </a:p>
        </p:txBody>
      </p:sp>
      <p:sp>
        <p:nvSpPr>
          <p:cNvPr id="32" name="Shape 32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口播提示：开场先讲一句话定位，不急着讲技术。重点是“不是一个 ChatBot，而是一组数字员工”。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真实痛点 / 使用场景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团队每天都在损失三样最贵的东西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信息在流动，但没有沉淀；AI 能力在增强，但过程缺少治理。</a:t>
            </a:r>
          </a:p>
        </p:txBody>
      </p:sp>
      <p:sp>
        <p:nvSpPr>
          <p:cNvPr id="8" name="Shape 8"/>
          <p:cNvSpPr/>
          <p:nvPr/>
        </p:nvSpPr>
        <p:spPr>
          <a:xfrm>
            <a:off x="658368" y="1874519"/>
            <a:ext cx="3401568" cy="342900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60A5FA"/>
            </a:solidFill>
          </a:ln>
        </p:spPr>
      </p:sp>
      <p:sp>
        <p:nvSpPr>
          <p:cNvPr id="9" name="Shape 9"/>
          <p:cNvSpPr/>
          <p:nvPr/>
        </p:nvSpPr>
        <p:spPr>
          <a:xfrm>
            <a:off x="886968" y="213969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100" b="1">
                <a:solidFill>
                  <a:srgbClr val="F8FAFC"/>
                </a:solidFill>
                <a:latin typeface="Microsoft YaHei"/>
                <a:ea typeface="Microsoft YaHei"/>
              </a:rPr>
              <a:t>经验流失</a:t>
            </a:r>
          </a:p>
        </p:txBody>
      </p:sp>
      <p:sp>
        <p:nvSpPr>
          <p:cNvPr id="10" name="Shape 10"/>
          <p:cNvSpPr/>
          <p:nvPr/>
        </p:nvSpPr>
        <p:spPr>
          <a:xfrm>
            <a:off x="886968" y="2788920"/>
            <a:ext cx="283464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去年 618 家电会场做过什么方案，效果如何？</a:t>
            </a:r>
          </a:p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现状：翻聊天记录，运气不好就重新踩坑。</a:t>
            </a:r>
          </a:p>
        </p:txBody>
      </p:sp>
      <p:sp>
        <p:nvSpPr>
          <p:cNvPr id="11" name="Shape 11"/>
          <p:cNvSpPr/>
          <p:nvPr/>
        </p:nvSpPr>
        <p:spPr>
          <a:xfrm>
            <a:off x="886968" y="4754880"/>
            <a:ext cx="1005840" cy="292608"/>
          </a:xfrm>
          <a:prstGeom prst="roundRect">
            <a:avLst/>
          </a:prstGeom>
          <a:solidFill>
            <a:srgbClr val="60A5FA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000" b="1">
                <a:solidFill>
                  <a:srgbClr val="F8FAFC"/>
                </a:solidFill>
                <a:latin typeface="Microsoft YaHei"/>
                <a:ea typeface="Microsoft YaHei"/>
              </a:rPr>
              <a:t>痛点 1</a:t>
            </a:r>
          </a:p>
        </p:txBody>
      </p:sp>
      <p:sp>
        <p:nvSpPr>
          <p:cNvPr id="12" name="Shape 12"/>
          <p:cNvSpPr/>
          <p:nvPr/>
        </p:nvSpPr>
        <p:spPr>
          <a:xfrm>
            <a:off x="4389120" y="1874519"/>
            <a:ext cx="3401568" cy="342900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A78BFA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617720" y="213969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100" b="1">
                <a:solidFill>
                  <a:srgbClr val="F8FAFC"/>
                </a:solidFill>
                <a:latin typeface="Microsoft YaHei"/>
                <a:ea typeface="Microsoft YaHei"/>
              </a:rPr>
              <a:t>多源割裂</a:t>
            </a:r>
          </a:p>
        </p:txBody>
      </p:sp>
      <p:sp>
        <p:nvSpPr>
          <p:cNvPr id="14" name="Shape 14"/>
          <p:cNvSpPr/>
          <p:nvPr/>
        </p:nvSpPr>
        <p:spPr>
          <a:xfrm>
            <a:off x="4617720" y="2788920"/>
            <a:ext cx="283464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指标在 BI，竞品资料在外部搜索，风险规则在法务文档。</a:t>
            </a:r>
          </a:p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一个问题要开好几个系统。</a:t>
            </a:r>
          </a:p>
        </p:txBody>
      </p:sp>
      <p:sp>
        <p:nvSpPr>
          <p:cNvPr id="15" name="Shape 15"/>
          <p:cNvSpPr/>
          <p:nvPr/>
        </p:nvSpPr>
        <p:spPr>
          <a:xfrm>
            <a:off x="4617720" y="4754880"/>
            <a:ext cx="1005840" cy="292608"/>
          </a:xfrm>
          <a:prstGeom prst="roundRect">
            <a:avLst/>
          </a:prstGeom>
          <a:solidFill>
            <a:srgbClr val="A78BFA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000" b="1">
                <a:solidFill>
                  <a:srgbClr val="F8FAFC"/>
                </a:solidFill>
                <a:latin typeface="Microsoft YaHei"/>
                <a:ea typeface="Microsoft YaHei"/>
              </a:rPr>
              <a:t>痛点 2</a:t>
            </a:r>
          </a:p>
        </p:txBody>
      </p:sp>
      <p:sp>
        <p:nvSpPr>
          <p:cNvPr id="16" name="Shape 16"/>
          <p:cNvSpPr/>
          <p:nvPr/>
        </p:nvSpPr>
        <p:spPr>
          <a:xfrm>
            <a:off x="8119872" y="1874519"/>
            <a:ext cx="3401568" cy="3429000"/>
          </a:xfrm>
          <a:prstGeom prst="roundRect">
            <a:avLst/>
          </a:prstGeom>
          <a:solidFill>
            <a:srgbClr val="111827"/>
          </a:solidFill>
          <a:ln w="18000">
            <a:solidFill>
              <a:srgbClr val="FB923C"/>
            </a:solidFill>
          </a:ln>
        </p:spPr>
      </p:sp>
      <p:sp>
        <p:nvSpPr>
          <p:cNvPr id="17" name="Shape 17"/>
          <p:cNvSpPr/>
          <p:nvPr/>
        </p:nvSpPr>
        <p:spPr>
          <a:xfrm>
            <a:off x="8348472" y="213969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100" b="1">
                <a:solidFill>
                  <a:srgbClr val="F8FAFC"/>
                </a:solidFill>
                <a:latin typeface="Microsoft YaHei"/>
                <a:ea typeface="Microsoft YaHei"/>
              </a:rPr>
              <a:t>审批黑洞</a:t>
            </a:r>
          </a:p>
        </p:txBody>
      </p:sp>
      <p:sp>
        <p:nvSpPr>
          <p:cNvPr id="18" name="Shape 18"/>
          <p:cNvSpPr/>
          <p:nvPr/>
        </p:nvSpPr>
        <p:spPr>
          <a:xfrm>
            <a:off x="8348472" y="2788920"/>
            <a:ext cx="283464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AI 能帮忙产出，但素材授权、批量抓取、内网访问谁确认？</a:t>
            </a:r>
          </a:p>
          <a:p>
            <a:pPr algn="l"/>
            <a:r>
              <a:rPr lang="zh-CN" sz="1500" b="0">
                <a:solidFill>
                  <a:srgbClr val="94A3B8"/>
                </a:solidFill>
                <a:latin typeface="Microsoft YaHei"/>
                <a:ea typeface="Microsoft YaHei"/>
              </a:rPr>
              <a:t>很多团队只能靠邮件和口头约定。</a:t>
            </a:r>
          </a:p>
        </p:txBody>
      </p:sp>
      <p:sp>
        <p:nvSpPr>
          <p:cNvPr id="19" name="Shape 19"/>
          <p:cNvSpPr/>
          <p:nvPr/>
        </p:nvSpPr>
        <p:spPr>
          <a:xfrm>
            <a:off x="8348472" y="4754880"/>
            <a:ext cx="1005840" cy="292608"/>
          </a:xfrm>
          <a:prstGeom prst="roundRect">
            <a:avLst/>
          </a:prstGeom>
          <a:solidFill>
            <a:srgbClr val="FB923C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000" b="1">
                <a:solidFill>
                  <a:srgbClr val="F8FAFC"/>
                </a:solidFill>
                <a:latin typeface="Microsoft YaHei"/>
                <a:ea typeface="Microsoft YaHei"/>
              </a:rPr>
              <a:t>痛点 3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口播提示：用三个真实场景代入，不抽象讲效率低。评委会更容易理解为什么这个项目值得做。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整体架构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一个聊天入口，背后是一套可治理的 Agent 协作系统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用户只看见 Workspace，后台通过 Personal Agent、专业 Agent、Blackboard 和记忆系统完成任务。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164592" rIns="164592" tIns="164592" bIns="164592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React / Vite 前端：Workspace、Knowledge、Insights、Collaboration、Market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2606040"/>
            <a:ext cx="10515600" cy="56692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A78BFA"/>
            </a:solidFill>
          </a:ln>
        </p:spPr>
        <p:txBody>
          <a:bodyPr wrap="square" anchor="mid" lIns="164592" rIns="164592" tIns="164592" bIns="164592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FastAPI 路由层：chat、memory、market、blackboard、inbox、users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383280"/>
            <a:ext cx="10515600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164592" rIns="164592" tIns="164592" bIns="164592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Agent 协作引擎：Personal Agent 调度 Research / Data / Risk Agent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4480560"/>
            <a:ext cx="10515600" cy="56692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164592" rIns="164592" tIns="164592" bIns="164592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Blackboard：request、evidence、risk、decision、handoff、memory_candidate</a:t>
            </a:r>
          </a:p>
        </p:txBody>
      </p:sp>
      <p:sp>
        <p:nvSpPr>
          <p:cNvPr id="12" name="Shape 12"/>
          <p:cNvSpPr/>
          <p:nvPr/>
        </p:nvSpPr>
        <p:spPr>
          <a:xfrm>
            <a:off x="822960" y="5257800"/>
            <a:ext cx="10515600" cy="56692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164592" rIns="164592" tIns="164592" bIns="164592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SQLite Store + 外部 Provider：O2、Web、Data、LLM、文档解析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6080760" y="2395728"/>
            <a:ext cx="9144" cy="201168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4" name="Connector 14"/>
          <p:cNvCxnSpPr/>
          <p:nvPr/>
        </p:nvCxnSpPr>
        <p:spPr>
          <a:xfrm>
            <a:off x="6080760" y="3172968"/>
            <a:ext cx="9144" cy="201168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6080760" y="4251960"/>
            <a:ext cx="9144" cy="201167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6080760" y="5047488"/>
            <a:ext cx="9144" cy="201167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口播提示：强调 Blackboard 是协作账本，不是普通论坛。能力扩展、权限和审计都在这条链路上。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10 分钟演示路线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按真实工作链路演，不按功能菜单背说明书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个人能力拓展、记忆沉淀、Agent 互助和项目价值，是整场演示的四个抓手。</a:t>
            </a:r>
          </a:p>
        </p:txBody>
      </p:sp>
      <p:sp>
        <p:nvSpPr>
          <p:cNvPr id="8" name="Shape 8"/>
          <p:cNvSpPr/>
          <p:nvPr/>
        </p:nvSpPr>
        <p:spPr>
          <a:xfrm>
            <a:off x="658368" y="2084831"/>
            <a:ext cx="1572768" cy="43891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0:00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1444752" y="2542032"/>
            <a:ext cx="9144" cy="42062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658368" y="2999232"/>
            <a:ext cx="1572768" cy="16916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真实痛点</a:t>
            </a:r>
          </a:p>
        </p:txBody>
      </p:sp>
      <p:sp>
        <p:nvSpPr>
          <p:cNvPr id="11" name="Shape 11"/>
          <p:cNvSpPr/>
          <p:nvPr/>
        </p:nvSpPr>
        <p:spPr>
          <a:xfrm>
            <a:off x="768096" y="3977639"/>
            <a:ext cx="135331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900" b="0">
                <a:solidFill>
                  <a:srgbClr val="94A3B8"/>
                </a:solidFill>
                <a:latin typeface="Microsoft YaHei"/>
                <a:ea typeface="Microsoft YaHei"/>
              </a:rPr>
              <a:t>经验流失、多源割裂、审批黑洞</a:t>
            </a:r>
          </a:p>
        </p:txBody>
      </p:sp>
      <p:sp>
        <p:nvSpPr>
          <p:cNvPr id="12" name="Shape 12"/>
          <p:cNvSpPr/>
          <p:nvPr/>
        </p:nvSpPr>
        <p:spPr>
          <a:xfrm>
            <a:off x="2505456" y="2084831"/>
            <a:ext cx="1572768" cy="43891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1:20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3291840" y="2542032"/>
            <a:ext cx="9144" cy="42062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2505456" y="2999232"/>
            <a:ext cx="1572768" cy="16916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整体架构</a:t>
            </a:r>
          </a:p>
        </p:txBody>
      </p:sp>
      <p:sp>
        <p:nvSpPr>
          <p:cNvPr id="15" name="Shape 15"/>
          <p:cNvSpPr/>
          <p:nvPr/>
        </p:nvSpPr>
        <p:spPr>
          <a:xfrm>
            <a:off x="2615184" y="3977639"/>
            <a:ext cx="135331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900" b="0">
                <a:solidFill>
                  <a:srgbClr val="94A3B8"/>
                </a:solidFill>
                <a:latin typeface="Microsoft YaHei"/>
                <a:ea typeface="Microsoft YaHei"/>
              </a:rPr>
              <a:t>chat-first + 多 Agent + Blackboard</a:t>
            </a:r>
          </a:p>
        </p:txBody>
      </p:sp>
      <p:sp>
        <p:nvSpPr>
          <p:cNvPr id="16" name="Shape 16"/>
          <p:cNvSpPr/>
          <p:nvPr/>
        </p:nvSpPr>
        <p:spPr>
          <a:xfrm>
            <a:off x="4352544" y="2084831"/>
            <a:ext cx="1572768" cy="43891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2:30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5138928" y="2542032"/>
            <a:ext cx="9144" cy="42062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4352544" y="2999232"/>
            <a:ext cx="1572768" cy="16916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个人能力</a:t>
            </a:r>
          </a:p>
        </p:txBody>
      </p:sp>
      <p:sp>
        <p:nvSpPr>
          <p:cNvPr id="19" name="Shape 19"/>
          <p:cNvSpPr/>
          <p:nvPr/>
        </p:nvSpPr>
        <p:spPr>
          <a:xfrm>
            <a:off x="4462272" y="3977639"/>
            <a:ext cx="135331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900" b="0">
                <a:solidFill>
                  <a:srgbClr val="94A3B8"/>
                </a:solidFill>
                <a:latin typeface="Microsoft YaHei"/>
                <a:ea typeface="Microsoft YaHei"/>
              </a:rPr>
              <a:t>$research / $data / $risk</a:t>
            </a:r>
          </a:p>
        </p:txBody>
      </p:sp>
      <p:sp>
        <p:nvSpPr>
          <p:cNvPr id="20" name="Shape 20"/>
          <p:cNvSpPr/>
          <p:nvPr/>
        </p:nvSpPr>
        <p:spPr>
          <a:xfrm>
            <a:off x="6199632" y="2084831"/>
            <a:ext cx="1572768" cy="43891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4:00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6986016" y="2542032"/>
            <a:ext cx="9144" cy="42062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6199632" y="2999232"/>
            <a:ext cx="1572768" cy="16916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记忆系统</a:t>
            </a:r>
          </a:p>
        </p:txBody>
      </p:sp>
      <p:sp>
        <p:nvSpPr>
          <p:cNvPr id="23" name="Shape 23"/>
          <p:cNvSpPr/>
          <p:nvPr/>
        </p:nvSpPr>
        <p:spPr>
          <a:xfrm>
            <a:off x="6309360" y="3977639"/>
            <a:ext cx="135331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900" b="0">
                <a:solidFill>
                  <a:srgbClr val="94A3B8"/>
                </a:solidFill>
                <a:latin typeface="Microsoft YaHei"/>
                <a:ea typeface="Microsoft YaHei"/>
              </a:rPr>
              <a:t>个人、项目、团队三级记忆</a:t>
            </a:r>
          </a:p>
        </p:txBody>
      </p:sp>
      <p:sp>
        <p:nvSpPr>
          <p:cNvPr id="24" name="Shape 24"/>
          <p:cNvSpPr/>
          <p:nvPr/>
        </p:nvSpPr>
        <p:spPr>
          <a:xfrm>
            <a:off x="8046720" y="2084831"/>
            <a:ext cx="1572768" cy="43891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6:30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8833104" y="2542032"/>
            <a:ext cx="9144" cy="42062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6" name="Shape 26"/>
          <p:cNvSpPr/>
          <p:nvPr/>
        </p:nvSpPr>
        <p:spPr>
          <a:xfrm>
            <a:off x="8046720" y="2999232"/>
            <a:ext cx="1572768" cy="16916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Agent 互助</a:t>
            </a:r>
          </a:p>
        </p:txBody>
      </p:sp>
      <p:sp>
        <p:nvSpPr>
          <p:cNvPr id="27" name="Shape 27"/>
          <p:cNvSpPr/>
          <p:nvPr/>
        </p:nvSpPr>
        <p:spPr>
          <a:xfrm>
            <a:off x="8156448" y="3977639"/>
            <a:ext cx="135331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900" b="0">
                <a:solidFill>
                  <a:srgbClr val="94A3B8"/>
                </a:solidFill>
                <a:latin typeface="Microsoft YaHei"/>
                <a:ea typeface="Microsoft YaHei"/>
              </a:rPr>
              <a:t>发布信号、自动匹配、贡献记录</a:t>
            </a:r>
          </a:p>
        </p:txBody>
      </p:sp>
      <p:sp>
        <p:nvSpPr>
          <p:cNvPr id="28" name="Shape 28"/>
          <p:cNvSpPr/>
          <p:nvPr/>
        </p:nvSpPr>
        <p:spPr>
          <a:xfrm>
            <a:off x="9893808" y="2084831"/>
            <a:ext cx="1572768" cy="43891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8:20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10680192" y="2542032"/>
            <a:ext cx="9144" cy="42062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30" name="Shape 30"/>
          <p:cNvSpPr/>
          <p:nvPr/>
        </p:nvSpPr>
        <p:spPr>
          <a:xfrm>
            <a:off x="9893808" y="2999232"/>
            <a:ext cx="1572768" cy="16916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BF24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项目价值</a:t>
            </a:r>
          </a:p>
        </p:txBody>
      </p:sp>
      <p:sp>
        <p:nvSpPr>
          <p:cNvPr id="31" name="Shape 31"/>
          <p:cNvSpPr/>
          <p:nvPr/>
        </p:nvSpPr>
        <p:spPr>
          <a:xfrm>
            <a:off x="10003536" y="3977639"/>
            <a:ext cx="1353312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c"/>
            <a:r>
              <a:rPr lang="zh-CN" sz="900" b="0">
                <a:solidFill>
                  <a:srgbClr val="94A3B8"/>
                </a:solidFill>
                <a:latin typeface="Microsoft YaHei"/>
                <a:ea typeface="Microsoft YaHei"/>
              </a:rPr>
              <a:t>工程可信度与下一步</a:t>
            </a:r>
          </a:p>
        </p:txBody>
      </p:sp>
      <p:sp>
        <p:nvSpPr>
          <p:cNvPr id="32" name="Shape 32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口播提示：告诉评委接下来会看真实页面和真实链路，不是只讲概念。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个人能力拓展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$ skill 让个人能力变成可审计工作流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普通聊天默认私有；用户明确输入 $ skill 后，系统才进入任务、证据、审计和记忆链路。</a:t>
            </a:r>
          </a:p>
        </p:txBody>
      </p:sp>
      <p:sp>
        <p:nvSpPr>
          <p:cNvPr id="8" name="Shape 8"/>
          <p:cNvSpPr/>
          <p:nvPr/>
        </p:nvSpPr>
        <p:spPr>
          <a:xfrm>
            <a:off x="5074920" y="2331720"/>
            <a:ext cx="2057400" cy="1417320"/>
          </a:xfrm>
          <a:prstGeom prst="ellipse">
            <a:avLst/>
          </a:prstGeom>
          <a:solidFill>
            <a:srgbClr val="2563EB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200" b="1">
                <a:solidFill>
                  <a:srgbClr val="F8FAFC"/>
                </a:solidFill>
                <a:latin typeface="Microsoft YaHei"/>
                <a:ea typeface="Microsoft YaHei"/>
              </a:rPr>
              <a:t>Personal</a:t>
            </a:r>
          </a:p>
          <a:p>
            <a:pPr algn="ctr"/>
            <a:r>
              <a:rPr lang="zh-CN" sz="2200" b="1">
                <a:solidFill>
                  <a:srgbClr val="F8FAFC"/>
                </a:solidFill>
                <a:latin typeface="Microsoft YaHei"/>
                <a:ea typeface="Microsoft YaHei"/>
              </a:rPr>
              <a:t>Agent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1965960"/>
            <a:ext cx="2331720" cy="1243584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资料能力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$research.request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带来源调研结果</a:t>
            </a:r>
          </a:p>
        </p:txBody>
      </p:sp>
      <p:cxnSp>
        <p:nvCxnSpPr>
          <p:cNvPr id="10" name="Connector 10"/>
          <p:cNvCxnSpPr/>
          <p:nvPr/>
        </p:nvCxnSpPr>
        <p:spPr>
          <a:xfrm flipH="1" flipV="1">
            <a:off x="2084832" y="2587752"/>
            <a:ext cx="3995928" cy="466343"/>
          </a:xfrm>
          <a:prstGeom prst="straightConnector1">
            <a:avLst/>
          </a:prstGeom>
          <a:ln w="20000">
            <a:solidFill>
              <a:srgbClr val="60A5FA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9052560" y="1965960"/>
            <a:ext cx="2331720" cy="1243584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风险能力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$risk.review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高风险进入 Inbox</a:t>
            </a:r>
          </a:p>
        </p:txBody>
      </p:sp>
      <p:cxnSp>
        <p:nvCxnSpPr>
          <p:cNvPr id="12" name="Connector 12"/>
          <p:cNvCxnSpPr/>
          <p:nvPr/>
        </p:nvCxnSpPr>
        <p:spPr>
          <a:xfrm flipV="1">
            <a:off x="6080760" y="2587752"/>
            <a:ext cx="4142231" cy="466343"/>
          </a:xfrm>
          <a:prstGeom prst="straightConnector1">
            <a:avLst/>
          </a:prstGeom>
          <a:ln w="20000">
            <a:solidFill>
              <a:srgbClr val="FB923C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914400" y="4343400"/>
            <a:ext cx="2331720" cy="1243584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数据能力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$data.query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指标查询和证据帖</a:t>
            </a:r>
          </a:p>
        </p:txBody>
      </p:sp>
      <p:cxnSp>
        <p:nvCxnSpPr>
          <p:cNvPr id="14" name="Connector 14"/>
          <p:cNvCxnSpPr/>
          <p:nvPr/>
        </p:nvCxnSpPr>
        <p:spPr>
          <a:xfrm flipH="1">
            <a:off x="2084832" y="3054096"/>
            <a:ext cx="3995928" cy="1911095"/>
          </a:xfrm>
          <a:prstGeom prst="straightConnector1">
            <a:avLst/>
          </a:prstGeom>
          <a:ln w="20000">
            <a:solidFill>
              <a:srgbClr val="34D399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9052560" y="4343400"/>
            <a:ext cx="2331720" cy="1243584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沉淀能力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$note.save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$memory.propose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6080760" y="3054096"/>
            <a:ext cx="4142231" cy="1911095"/>
          </a:xfrm>
          <a:prstGeom prst="straightConnector1">
            <a:avLst/>
          </a:prstGeom>
          <a:ln w="20000">
            <a:solidFill>
              <a:srgbClr val="A78BFA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3703320" y="4800600"/>
            <a:ext cx="4709160" cy="64008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答案带 Sources，风险有 Inbox，过程进 Audit</a:t>
            </a:r>
          </a:p>
        </p:txBody>
      </p:sp>
      <p:sp>
        <p:nvSpPr>
          <p:cNvPr id="18" name="Shape 18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口播提示：现场演示 Workspace 输入 $system.info，再演 $research、$data、$risk 中的 1 到 2 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能力调用流程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调研、数据、风险分别由不同 Agent 处理，最后回到一个回答里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这页用来回答评委的技术追问：入口、路由、证据、风险、人审和记忆如何串起来。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2304288"/>
            <a:ext cx="1508760" cy="12344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用户</a:t>
            </a:r>
          </a:p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输入 $research / $data / $risk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212848" y="2926080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2542032" y="2304288"/>
            <a:ext cx="1508760" cy="12344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Skill Registry</a:t>
            </a:r>
          </a:p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解析 ChatSkillSpec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4069079" y="2926080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4398264" y="2304288"/>
            <a:ext cx="1508760" cy="12344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Personal Agent</a:t>
            </a:r>
          </a:p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创建任务并调度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5925312" y="2926080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6254496" y="2304288"/>
            <a:ext cx="1508760" cy="12344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专业 Agent</a:t>
            </a:r>
          </a:p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返回证据和来源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7781544" y="2926080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6" name="Shape 16"/>
          <p:cNvSpPr/>
          <p:nvPr/>
        </p:nvSpPr>
        <p:spPr>
          <a:xfrm>
            <a:off x="8110727" y="2304288"/>
            <a:ext cx="1508760" cy="12344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Inbox / Memory</a:t>
            </a:r>
          </a:p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人审或沉淀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9637776" y="2926080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9966959" y="2304288"/>
            <a:ext cx="1508760" cy="12344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BF24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回答</a:t>
            </a:r>
          </a:p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带来源 + workflow trace</a:t>
            </a:r>
          </a:p>
        </p:txBody>
      </p:sp>
      <p:sp>
        <p:nvSpPr>
          <p:cNvPr id="19" name="Shape 19"/>
          <p:cNvSpPr/>
          <p:nvPr/>
        </p:nvSpPr>
        <p:spPr>
          <a:xfrm>
            <a:off x="1005840" y="4297680"/>
            <a:ext cx="10149840" cy="86868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高风险或可疑内容不会直接喂给模型，会先创建待确认项；正常证据写入 Sources 和短期记忆。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口播提示：讲清楚显式 $ skill 的好处：不靠隐式猜意图，权限和审计边界清楚。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记忆模块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三级记忆把工作内容变成可治理的资产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Layer 管沉淀深度，Scope 管谁能看；团队记忆必须经过候选和接受流程。</a:t>
            </a:r>
          </a:p>
        </p:txBody>
      </p:sp>
      <p:sp>
        <p:nvSpPr>
          <p:cNvPr id="8" name="Shape 8"/>
          <p:cNvSpPr/>
          <p:nvPr/>
        </p:nvSpPr>
        <p:spPr>
          <a:xfrm>
            <a:off x="1097280" y="4526280"/>
            <a:ext cx="5486400" cy="749808"/>
          </a:xfrm>
          <a:prstGeom prst="roundRect">
            <a:avLst/>
          </a:prstGeom>
          <a:solidFill>
            <a:srgbClr val="1D4ED8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个人记忆：short_term</a:t>
            </a:r>
          </a:p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今天做了什么、个人笔记、工作流结果</a:t>
            </a:r>
          </a:p>
        </p:txBody>
      </p:sp>
      <p:sp>
        <p:nvSpPr>
          <p:cNvPr id="9" name="Shape 9"/>
          <p:cNvSpPr/>
          <p:nvPr/>
        </p:nvSpPr>
        <p:spPr>
          <a:xfrm>
            <a:off x="1600200" y="3474720"/>
            <a:ext cx="4480560" cy="749808"/>
          </a:xfrm>
          <a:prstGeom prst="roundRect">
            <a:avLst/>
          </a:prstGeom>
          <a:solidFill>
            <a:srgbClr val="04785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项目记忆：mid_term / long_term</a:t>
            </a:r>
          </a:p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阶段总结、项目归档、召回索引</a:t>
            </a:r>
          </a:p>
        </p:txBody>
      </p:sp>
      <p:sp>
        <p:nvSpPr>
          <p:cNvPr id="10" name="Shape 10"/>
          <p:cNvSpPr/>
          <p:nvPr/>
        </p:nvSpPr>
        <p:spPr>
          <a:xfrm>
            <a:off x="2148840" y="2423160"/>
            <a:ext cx="3383280" cy="749808"/>
          </a:xfrm>
          <a:prstGeom prst="roundRect">
            <a:avLst/>
          </a:prstGeom>
          <a:solidFill>
            <a:srgbClr val="B91C1C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团队记忆：TEAM_ACCEPTED</a:t>
            </a:r>
          </a:p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审核后的共享知识资产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6995160" y="3840480"/>
            <a:ext cx="868679" cy="9144"/>
          </a:xfrm>
          <a:prstGeom prst="straightConnector1">
            <a:avLst/>
          </a:prstGeom>
          <a:ln w="18000">
            <a:solidFill>
              <a:srgbClr val="FB923C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8092440" y="2331720"/>
            <a:ext cx="2880360" cy="233172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审核闸门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lead / admin 接受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/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状态治理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proposed / accepted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disputed / expired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deprecated</a:t>
            </a:r>
          </a:p>
        </p:txBody>
      </p:sp>
      <p:sp>
        <p:nvSpPr>
          <p:cNvPr id="13" name="Shape 13"/>
          <p:cNvSpPr/>
          <p:nvPr/>
        </p:nvSpPr>
        <p:spPr>
          <a:xfrm>
            <a:off x="1097280" y="1783080"/>
            <a:ext cx="5468112" cy="292608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94A3B8"/>
                </a:solidFill>
                <a:latin typeface="Microsoft YaHei"/>
                <a:ea typeface="Microsoft YaHei"/>
              </a:rPr>
              <a:t>检索融合：FTS5 + vector + RRF，结果带来源引用</a:t>
            </a:r>
          </a:p>
        </p:txBody>
      </p:sp>
      <p:sp>
        <p:nvSpPr>
          <p:cNvPr id="14" name="Shape 14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口播提示：这页是技术纵深重点。不要把记忆讲成“存知识”，要讲分层、治理、检索、提炼。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记忆如何流动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从一次工作流，到团队可复用知识，再到 LearnedSkill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有价值的内容逐级收敛；重复成功的工作模式会被提炼为可复用 Skill。</a:t>
            </a:r>
          </a:p>
        </p:txBody>
      </p:sp>
      <p:sp>
        <p:nvSpPr>
          <p:cNvPr id="8" name="Shape 8"/>
          <p:cNvSpPr/>
          <p:nvPr/>
        </p:nvSpPr>
        <p:spPr>
          <a:xfrm>
            <a:off x="594360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$ skill 工作流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1874519" y="2578608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0" name="Shape 10"/>
          <p:cNvSpPr/>
          <p:nvPr/>
        </p:nvSpPr>
        <p:spPr>
          <a:xfrm>
            <a:off x="2221992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个人短期记忆</a:t>
            </a:r>
          </a:p>
        </p:txBody>
      </p:sp>
      <p:cxnSp>
        <p:nvCxnSpPr>
          <p:cNvPr id="11" name="Connector 11"/>
          <p:cNvCxnSpPr/>
          <p:nvPr/>
        </p:nvCxnSpPr>
        <p:spPr>
          <a:xfrm>
            <a:off x="3502152" y="2578608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2" name="Shape 12"/>
          <p:cNvSpPr/>
          <p:nvPr/>
        </p:nvSpPr>
        <p:spPr>
          <a:xfrm>
            <a:off x="3849624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每日摘要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5129783" y="2578608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5477256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项目中期记忆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6757416" y="2578608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6" name="Shape 16"/>
          <p:cNvSpPr/>
          <p:nvPr/>
        </p:nvSpPr>
        <p:spPr>
          <a:xfrm>
            <a:off x="7104888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长期归档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8385048" y="2578608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8" name="Shape 18"/>
          <p:cNvSpPr/>
          <p:nvPr/>
        </p:nvSpPr>
        <p:spPr>
          <a:xfrm>
            <a:off x="8732520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团队候选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10012680" y="2578608"/>
            <a:ext cx="301752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10360152" y="2148840"/>
            <a:ext cx="1261872" cy="86868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团队接受</a:t>
            </a:r>
          </a:p>
        </p:txBody>
      </p:sp>
      <p:sp>
        <p:nvSpPr>
          <p:cNvPr id="21" name="Shape 21"/>
          <p:cNvSpPr/>
          <p:nvPr/>
        </p:nvSpPr>
        <p:spPr>
          <a:xfrm>
            <a:off x="777240" y="3794760"/>
            <a:ext cx="4892040" cy="141732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Skill 提炼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同类成功工作流 &gt;= 3 次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→ 提出 LearnedSkill 草稿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→ 用户激活 / 分享 / 废弃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0" y="3794760"/>
            <a:ext cx="4892040" cy="141732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演示动作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Knowledge 接受候选记忆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Insights 看短中长期统计</a:t>
            </a:r>
          </a:p>
          <a:p>
            <a:pPr algn="ctr"/>
            <a:r>
              <a:rPr lang="zh-CN" sz="1700" b="1">
                <a:solidFill>
                  <a:srgbClr val="F8FAFC"/>
                </a:solidFill>
                <a:latin typeface="Microsoft YaHei"/>
                <a:ea typeface="Microsoft YaHei"/>
              </a:rPr>
              <a:t>必要时打开代码证明 skill_extractor.py</a:t>
            </a:r>
          </a:p>
        </p:txBody>
      </p:sp>
      <p:sp>
        <p:nvSpPr>
          <p:cNvPr id="23" name="Shape 23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口播提示：如 Insights 中某些卡片还是参考数据，要如实说明，逻辑和测试已经在代码里。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Agent 互助市场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知识不只被动搜索，还能主动流动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用户 opt-in 后，个人 Agent 发布需求信号，其他 Agent 扫描匹配并给出抽象答案。</a:t>
            </a:r>
          </a:p>
        </p:txBody>
      </p:sp>
      <p:sp>
        <p:nvSpPr>
          <p:cNvPr id="8" name="Shape 8"/>
          <p:cNvSpPr/>
          <p:nvPr/>
        </p:nvSpPr>
        <p:spPr>
          <a:xfrm>
            <a:off x="5074920" y="2816352"/>
            <a:ext cx="2057400" cy="1371600"/>
          </a:xfrm>
          <a:prstGeom prst="ellipse">
            <a:avLst/>
          </a:prstGeom>
          <a:solidFill>
            <a:srgbClr val="6D28D9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100" b="1">
                <a:solidFill>
                  <a:srgbClr val="F8FAFC"/>
                </a:solidFill>
                <a:latin typeface="Microsoft YaHei"/>
                <a:ea typeface="Microsoft YaHei"/>
              </a:rPr>
              <a:t>我</a:t>
            </a:r>
          </a:p>
          <a:p>
            <a:pPr algn="ctr"/>
            <a:r>
              <a:rPr lang="zh-CN" sz="2100" b="1">
                <a:solidFill>
                  <a:srgbClr val="F8FAFC"/>
                </a:solidFill>
                <a:latin typeface="Microsoft YaHei"/>
                <a:ea typeface="Microsoft YaHei"/>
              </a:rPr>
              <a:t>Personal Agent</a:t>
            </a:r>
          </a:p>
        </p:txBody>
      </p:sp>
      <p:sp>
        <p:nvSpPr>
          <p:cNvPr id="9" name="Shape 9"/>
          <p:cNvSpPr/>
          <p:nvPr/>
        </p:nvSpPr>
        <p:spPr>
          <a:xfrm>
            <a:off x="1143000" y="1828800"/>
            <a:ext cx="2057400" cy="7772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同事 A</a:t>
            </a:r>
          </a:p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有相关经验</a:t>
            </a:r>
          </a:p>
        </p:txBody>
      </p:sp>
      <p:cxnSp>
        <p:nvCxnSpPr>
          <p:cNvPr id="10" name="Connector 10"/>
          <p:cNvCxnSpPr/>
          <p:nvPr/>
        </p:nvCxnSpPr>
        <p:spPr>
          <a:xfrm flipH="1" flipV="1">
            <a:off x="2167128" y="2221992"/>
            <a:ext cx="3931920" cy="1271015"/>
          </a:xfrm>
          <a:prstGeom prst="straightConnector1">
            <a:avLst/>
          </a:prstGeom>
          <a:ln w="20000">
            <a:solidFill>
              <a:srgbClr val="60A5FA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9052560" y="1828800"/>
            <a:ext cx="2057400" cy="7772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同事 B</a:t>
            </a:r>
          </a:p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正在求助</a:t>
            </a:r>
          </a:p>
        </p:txBody>
      </p:sp>
      <p:cxnSp>
        <p:nvCxnSpPr>
          <p:cNvPr id="12" name="Connector 12"/>
          <p:cNvCxnSpPr/>
          <p:nvPr/>
        </p:nvCxnSpPr>
        <p:spPr>
          <a:xfrm flipV="1">
            <a:off x="6099048" y="2221992"/>
            <a:ext cx="3977639" cy="1271015"/>
          </a:xfrm>
          <a:prstGeom prst="straightConnector1">
            <a:avLst/>
          </a:prstGeom>
          <a:ln w="20000">
            <a:solidFill>
              <a:srgbClr val="34D399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1234440" y="4617720"/>
            <a:ext cx="2057400" cy="7772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同事 C</a:t>
            </a:r>
          </a:p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提供数据线索</a:t>
            </a:r>
          </a:p>
        </p:txBody>
      </p:sp>
      <p:cxnSp>
        <p:nvCxnSpPr>
          <p:cNvPr id="14" name="Connector 14"/>
          <p:cNvCxnSpPr/>
          <p:nvPr/>
        </p:nvCxnSpPr>
        <p:spPr>
          <a:xfrm flipH="1">
            <a:off x="2258568" y="3493008"/>
            <a:ext cx="3840479" cy="1517903"/>
          </a:xfrm>
          <a:prstGeom prst="straightConnector1">
            <a:avLst/>
          </a:prstGeom>
          <a:ln w="20000">
            <a:solidFill>
              <a:srgbClr val="FB923C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9006840" y="4617720"/>
            <a:ext cx="2057400" cy="7772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同事 D</a:t>
            </a:r>
          </a:p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需要风险建议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6099048" y="3493008"/>
            <a:ext cx="3931919" cy="1517903"/>
          </a:xfrm>
          <a:prstGeom prst="straightConnector1">
            <a:avLst/>
          </a:prstGeom>
          <a:ln w="20000">
            <a:solidFill>
              <a:srgbClr val="F87171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5074920" y="1325880"/>
            <a:ext cx="2057400" cy="77724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BF24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BBS / Market</a:t>
            </a:r>
          </a:p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信号与匹配</a:t>
            </a:r>
          </a:p>
        </p:txBody>
      </p:sp>
      <p:cxnSp>
        <p:nvCxnSpPr>
          <p:cNvPr id="18" name="Connector 18"/>
          <p:cNvCxnSpPr/>
          <p:nvPr/>
        </p:nvCxnSpPr>
        <p:spPr>
          <a:xfrm flipV="1">
            <a:off x="6099048" y="1719072"/>
            <a:ext cx="9144" cy="1773936"/>
          </a:xfrm>
          <a:prstGeom prst="straightConnector1">
            <a:avLst/>
          </a:prstGeom>
          <a:ln w="20000">
            <a:solidFill>
              <a:srgbClr val="FBBF24"/>
            </a:solidFill>
            <a:tailEnd type="triangle"/>
          </a:ln>
        </p:spPr>
      </p:cxnSp>
      <p:sp>
        <p:nvSpPr>
          <p:cNvPr id="19" name="Shape 19"/>
          <p:cNvSpPr/>
          <p:nvPr/>
        </p:nvSpPr>
        <p:spPr>
          <a:xfrm>
            <a:off x="3749039" y="5074920"/>
            <a:ext cx="4663440" cy="475488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采纳后记录 ContributionPoint，并写回 MemoryRelation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口播提示：强调默认不是全员广播，用户 opt-in 才参与；返回的是抽象答案，不是原始记忆。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互助市场演示链路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agent-1 发布信号，agent-2 扫描匹配，采纳后记录贡献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演示前提前触发 publish_all_signals(store) 和 scout_all(store)，不要在台上等待 worker。</a:t>
            </a:r>
          </a:p>
        </p:txBody>
      </p:sp>
      <p:sp>
        <p:nvSpPr>
          <p:cNvPr id="8" name="Shape 8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60A5FA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Shape 9"/>
          <p:cNvSpPr/>
          <p:nvPr/>
        </p:nvSpPr>
        <p:spPr>
          <a:xfrm>
            <a:off x="566928" y="2834640"/>
            <a:ext cx="1783080" cy="13716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加入市场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用户 opt-in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2377440" y="3520440"/>
            <a:ext cx="320039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2971800" y="2011680"/>
            <a:ext cx="566928" cy="566928"/>
          </a:xfrm>
          <a:prstGeom prst="ellipse">
            <a:avLst/>
          </a:prstGeom>
          <a:solidFill>
            <a:srgbClr val="A78BFA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Shape 12"/>
          <p:cNvSpPr/>
          <p:nvPr/>
        </p:nvSpPr>
        <p:spPr>
          <a:xfrm>
            <a:off x="2715768" y="2834640"/>
            <a:ext cx="1783080" cy="13716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发布信号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publish_all_signals</a:t>
            </a:r>
          </a:p>
        </p:txBody>
      </p:sp>
      <p:cxnSp>
        <p:nvCxnSpPr>
          <p:cNvPr id="13" name="Connector 13"/>
          <p:cNvCxnSpPr/>
          <p:nvPr/>
        </p:nvCxnSpPr>
        <p:spPr>
          <a:xfrm>
            <a:off x="4526280" y="3520440"/>
            <a:ext cx="320039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4" name="Shape 14"/>
          <p:cNvSpPr/>
          <p:nvPr/>
        </p:nvSpPr>
        <p:spPr>
          <a:xfrm>
            <a:off x="5120640" y="2011680"/>
            <a:ext cx="566928" cy="566928"/>
          </a:xfrm>
          <a:prstGeom prst="ellipse">
            <a:avLst/>
          </a:prstGeom>
          <a:solidFill>
            <a:srgbClr val="34D399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" name="Shape 15"/>
          <p:cNvSpPr/>
          <p:nvPr/>
        </p:nvSpPr>
        <p:spPr>
          <a:xfrm>
            <a:off x="4864608" y="2834640"/>
            <a:ext cx="1783080" cy="13716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自动匹配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scout_all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6675120" y="3520440"/>
            <a:ext cx="320039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7269480" y="2011680"/>
            <a:ext cx="566928" cy="566928"/>
          </a:xfrm>
          <a:prstGeom prst="ellipse">
            <a:avLst/>
          </a:prstGeom>
          <a:solidFill>
            <a:srgbClr val="FB923C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8" name="Shape 18"/>
          <p:cNvSpPr/>
          <p:nvPr/>
        </p:nvSpPr>
        <p:spPr>
          <a:xfrm>
            <a:off x="7013448" y="2834640"/>
            <a:ext cx="1783080" cy="13716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代答返回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marketplace_match</a:t>
            </a:r>
          </a:p>
        </p:txBody>
      </p:sp>
      <p:cxnSp>
        <p:nvCxnSpPr>
          <p:cNvPr id="19" name="Connector 19"/>
          <p:cNvCxnSpPr/>
          <p:nvPr/>
        </p:nvCxnSpPr>
        <p:spPr>
          <a:xfrm>
            <a:off x="8823960" y="3520440"/>
            <a:ext cx="320039" cy="9144"/>
          </a:xfrm>
          <a:prstGeom prst="straightConnector1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9418320" y="2011680"/>
            <a:ext cx="566928" cy="566928"/>
          </a:xfrm>
          <a:prstGeom prst="ellipse">
            <a:avLst/>
          </a:prstGeom>
          <a:solidFill>
            <a:srgbClr val="F87171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1" name="Shape 21"/>
          <p:cNvSpPr/>
          <p:nvPr/>
        </p:nvSpPr>
        <p:spPr>
          <a:xfrm>
            <a:off x="9162288" y="2834640"/>
            <a:ext cx="1783080" cy="13716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采纳贡献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ContributionPoint</a:t>
            </a:r>
          </a:p>
        </p:txBody>
      </p:sp>
      <p:sp>
        <p:nvSpPr>
          <p:cNvPr id="22" name="Shape 22"/>
          <p:cNvSpPr/>
          <p:nvPr/>
        </p:nvSpPr>
        <p:spPr>
          <a:xfrm>
            <a:off x="1097280" y="4864608"/>
            <a:ext cx="9966960" cy="502920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Collaboration 看组织级看板，Market 看“我”的个人视角时间线。</a:t>
            </a:r>
          </a:p>
        </p:txBody>
      </p:sp>
      <p:sp>
        <p:nvSpPr>
          <p:cNvPr id="23" name="Shape 23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口播提示：这一段讲“流动资产”。贡献点已记录，但排行榜和兑换规则仍是下一步。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项目价值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把工作过程变成可积累、可复用、可激励的团队资产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AgentMesh 的价值不在多一个入口，而在把能力、记忆、协作和治理连成飞轮。</a:t>
            </a:r>
          </a:p>
        </p:txBody>
      </p:sp>
      <p:sp>
        <p:nvSpPr>
          <p:cNvPr id="8" name="Shape 8"/>
          <p:cNvSpPr/>
          <p:nvPr/>
        </p:nvSpPr>
        <p:spPr>
          <a:xfrm>
            <a:off x="5166360" y="2971800"/>
            <a:ext cx="1965960" cy="1170432"/>
          </a:xfrm>
          <a:prstGeom prst="ellipse">
            <a:avLst/>
          </a:prstGeom>
          <a:solidFill>
            <a:srgbClr val="2563EB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团队 AI</a:t>
            </a:r>
          </a:p>
          <a:p>
            <a:pPr algn="ctr"/>
            <a:r>
              <a:rPr lang="zh-CN" sz="2000" b="1">
                <a:solidFill>
                  <a:srgbClr val="F8FAFC"/>
                </a:solidFill>
                <a:latin typeface="Microsoft YaHei"/>
                <a:ea typeface="Microsoft YaHei"/>
              </a:rPr>
              <a:t>工作大脑</a:t>
            </a:r>
          </a:p>
        </p:txBody>
      </p:sp>
      <p:sp>
        <p:nvSpPr>
          <p:cNvPr id="9" name="Shape 9"/>
          <p:cNvSpPr/>
          <p:nvPr/>
        </p:nvSpPr>
        <p:spPr>
          <a:xfrm>
            <a:off x="5074920" y="1737360"/>
            <a:ext cx="1874519" cy="74980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60A5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做事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chat + skill</a:t>
            </a:r>
          </a:p>
        </p:txBody>
      </p:sp>
      <p:cxnSp>
        <p:nvCxnSpPr>
          <p:cNvPr id="10" name="Connector 10"/>
          <p:cNvCxnSpPr/>
          <p:nvPr/>
        </p:nvCxnSpPr>
        <p:spPr>
          <a:xfrm flipH="1" flipV="1">
            <a:off x="6007608" y="2112264"/>
            <a:ext cx="146304" cy="1444752"/>
          </a:xfrm>
          <a:prstGeom prst="straightConnector1">
            <a:avLst/>
          </a:prstGeom>
          <a:ln w="19000">
            <a:solidFill>
              <a:srgbClr val="60A5FA"/>
            </a:solidFill>
            <a:tailEnd type="triangle"/>
          </a:ln>
        </p:spPr>
      </p:cxnSp>
      <p:sp>
        <p:nvSpPr>
          <p:cNvPr id="11" name="Shape 11"/>
          <p:cNvSpPr/>
          <p:nvPr/>
        </p:nvSpPr>
        <p:spPr>
          <a:xfrm>
            <a:off x="8275320" y="2514600"/>
            <a:ext cx="1874519" cy="74980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沉淀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个人 / 项目记忆</a:t>
            </a:r>
          </a:p>
        </p:txBody>
      </p:sp>
      <p:cxnSp>
        <p:nvCxnSpPr>
          <p:cNvPr id="12" name="Connector 12"/>
          <p:cNvCxnSpPr/>
          <p:nvPr/>
        </p:nvCxnSpPr>
        <p:spPr>
          <a:xfrm flipV="1">
            <a:off x="6153912" y="2889504"/>
            <a:ext cx="3054096" cy="667512"/>
          </a:xfrm>
          <a:prstGeom prst="straightConnector1">
            <a:avLst/>
          </a:prstGeom>
          <a:ln w="19000">
            <a:solidFill>
              <a:srgbClr val="34D399"/>
            </a:solidFill>
            <a:tailEnd type="triangle"/>
          </a:ln>
        </p:spPr>
      </p:cxnSp>
      <p:sp>
        <p:nvSpPr>
          <p:cNvPr id="13" name="Shape 13"/>
          <p:cNvSpPr/>
          <p:nvPr/>
        </p:nvSpPr>
        <p:spPr>
          <a:xfrm>
            <a:off x="7360920" y="4617720"/>
            <a:ext cx="1874519" cy="74980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审核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团队知识资产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6153912" y="3557016"/>
            <a:ext cx="2139696" cy="1435607"/>
          </a:xfrm>
          <a:prstGeom prst="straightConnector1">
            <a:avLst/>
          </a:prstGeom>
          <a:ln w="19000">
            <a:solidFill>
              <a:srgbClr val="FB923C"/>
            </a:solidFill>
            <a:tailEnd type="triangle"/>
          </a:ln>
        </p:spPr>
      </p:cxnSp>
      <p:sp>
        <p:nvSpPr>
          <p:cNvPr id="15" name="Shape 15"/>
          <p:cNvSpPr/>
          <p:nvPr/>
        </p:nvSpPr>
        <p:spPr>
          <a:xfrm>
            <a:off x="2743200" y="4617720"/>
            <a:ext cx="1874519" cy="74980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A78BFA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互助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Agent 市场</a:t>
            </a:r>
          </a:p>
        </p:txBody>
      </p:sp>
      <p:cxnSp>
        <p:nvCxnSpPr>
          <p:cNvPr id="16" name="Connector 16"/>
          <p:cNvCxnSpPr/>
          <p:nvPr/>
        </p:nvCxnSpPr>
        <p:spPr>
          <a:xfrm flipH="1">
            <a:off x="3675887" y="3557016"/>
            <a:ext cx="2478024" cy="1435607"/>
          </a:xfrm>
          <a:prstGeom prst="straightConnector1">
            <a:avLst/>
          </a:prstGeom>
          <a:ln w="19000">
            <a:solidFill>
              <a:srgbClr val="A78BFA"/>
            </a:solidFill>
            <a:tailEnd type="triangle"/>
          </a:ln>
        </p:spPr>
      </p:cxnSp>
      <p:sp>
        <p:nvSpPr>
          <p:cNvPr id="17" name="Shape 17"/>
          <p:cNvSpPr/>
          <p:nvPr/>
        </p:nvSpPr>
        <p:spPr>
          <a:xfrm>
            <a:off x="1920240" y="2514600"/>
            <a:ext cx="1874519" cy="749808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87171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激励</a:t>
            </a:r>
          </a:p>
          <a:p>
            <a:pPr algn="ctr"/>
            <a:r>
              <a:rPr lang="zh-CN" sz="1400" b="1">
                <a:solidFill>
                  <a:srgbClr val="F8FAFC"/>
                </a:solidFill>
                <a:latin typeface="Microsoft YaHei"/>
                <a:ea typeface="Microsoft YaHei"/>
              </a:rPr>
              <a:t>贡献记录</a:t>
            </a:r>
          </a:p>
        </p:txBody>
      </p:sp>
      <p:cxnSp>
        <p:nvCxnSpPr>
          <p:cNvPr id="18" name="Connector 18"/>
          <p:cNvCxnSpPr/>
          <p:nvPr/>
        </p:nvCxnSpPr>
        <p:spPr>
          <a:xfrm flipH="1" flipV="1">
            <a:off x="2852928" y="2889504"/>
            <a:ext cx="3300984" cy="667512"/>
          </a:xfrm>
          <a:prstGeom prst="straightConnector1">
            <a:avLst/>
          </a:prstGeom>
          <a:ln w="19000">
            <a:solidFill>
              <a:srgbClr val="F87171"/>
            </a:solidFill>
            <a:tailEnd type="triangle"/>
          </a:ln>
        </p:spPr>
      </p:cxnSp>
      <p:sp>
        <p:nvSpPr>
          <p:cNvPr id="19" name="Shape 19"/>
          <p:cNvSpPr/>
          <p:nvPr/>
        </p:nvSpPr>
        <p:spPr>
          <a:xfrm>
            <a:off x="786384" y="5532120"/>
            <a:ext cx="10698480" cy="384048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通用 ChatBot 只能聊；企业知识库只能搜；AgentMesh 把团队工作链路变成可治理的 AI 协作系统。</a:t>
            </a:r>
          </a:p>
        </p:txBody>
      </p:sp>
      <p:sp>
        <p:nvSpPr>
          <p:cNvPr id="20" name="Shape 20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口播提示：用这一页收束差异化。不要夸成全自动企业操作系统，讲“已打通的 MVP 链路”。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60" cy="6858000"/>
          </a:xfrm>
          <a:prstGeom prst="roundRect">
            <a:avLst/>
          </a:prstGeom>
          <a:solidFill>
            <a:srgbClr val="08111F"/>
          </a:solidFill>
          <a:ln w="16000">
            <a:solidFill>
              <a:srgbClr val="08111F"/>
            </a:solidFill>
          </a:ln>
        </p:spPr>
      </p:sp>
      <p:sp>
        <p:nvSpPr>
          <p:cNvPr id="3" name="Shape 3"/>
          <p:cNvSpPr/>
          <p:nvPr/>
        </p:nvSpPr>
        <p:spPr>
          <a:xfrm>
            <a:off x="45720" y="45720"/>
            <a:ext cx="12100255" cy="6766560"/>
          </a:xfrm>
          <a:prstGeom prst="roundRect">
            <a:avLst/>
          </a:prstGeom>
          <a:noFill/>
          <a:ln w="9000">
            <a:solidFill>
              <a:srgbClr val="334155"/>
            </a:solidFill>
          </a:ln>
        </p:spPr>
      </p:sp>
      <p:sp>
        <p:nvSpPr>
          <p:cNvPr id="4" name="Shape 4"/>
          <p:cNvSpPr/>
          <p:nvPr/>
        </p:nvSpPr>
        <p:spPr>
          <a:xfrm>
            <a:off x="502920" y="384048"/>
            <a:ext cx="914400" cy="329184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300" b="1">
                <a:solidFill>
                  <a:srgbClr val="F8FAFC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" name="Shape 5"/>
          <p:cNvSpPr/>
          <p:nvPr/>
        </p:nvSpPr>
        <p:spPr>
          <a:xfrm>
            <a:off x="1536192" y="35661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200" b="1">
                <a:solidFill>
                  <a:srgbClr val="94A3B8"/>
                </a:solidFill>
                <a:latin typeface="Microsoft YaHei"/>
                <a:ea typeface="Microsoft YaHei"/>
              </a:rPr>
              <a:t>收尾与演示红线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749808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2800" b="1">
                <a:solidFill>
                  <a:srgbClr val="F8FAFC"/>
                </a:solidFill>
                <a:latin typeface="Microsoft YaHei"/>
                <a:ea typeface="Microsoft YaHei"/>
              </a:rPr>
              <a:t>每一句“已完成”都要经得起现场追问</a:t>
            </a:r>
          </a:p>
        </p:txBody>
      </p:sp>
      <p:sp>
        <p:nvSpPr>
          <p:cNvPr id="7" name="Shape 7"/>
          <p:cNvSpPr/>
          <p:nvPr/>
        </p:nvSpPr>
        <p:spPr>
          <a:xfrm>
            <a:off x="530352" y="1261872"/>
            <a:ext cx="97840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45720" bIns="45720"/>
          <a:lstStyle/>
          <a:p>
            <a:pPr algn="l"/>
            <a:r>
              <a:rPr lang="zh-CN" sz="1300" b="0">
                <a:solidFill>
                  <a:srgbClr val="94A3B8"/>
                </a:solidFill>
                <a:latin typeface="Microsoft YaHei"/>
                <a:ea typeface="Microsoft YaHei"/>
              </a:rPr>
              <a:t>黑客松路演要有野心，也要诚实。真实边界讲清楚，可信度反而更高。</a:t>
            </a:r>
          </a:p>
        </p:txBody>
      </p:sp>
      <p:sp>
        <p:nvSpPr>
          <p:cNvPr id="8" name="Shape 8"/>
          <p:cNvSpPr/>
          <p:nvPr/>
        </p:nvSpPr>
        <p:spPr>
          <a:xfrm>
            <a:off x="731520" y="1828800"/>
            <a:ext cx="5257800" cy="34290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34D399"/>
            </a:solidFill>
          </a:ln>
        </p:spPr>
        <p:txBody>
          <a:bodyPr wrap="square" anchor="mid" lIns="201168" rIns="201168" tIns="201168" bIns="201168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现场演示检查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demo 模式服务可启动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$system.info 能看到技能和模型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Knowledge 候选记忆可接受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Market 有提前触发的真实匹配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测试收集结果：551 tests collected</a:t>
            </a:r>
          </a:p>
        </p:txBody>
      </p:sp>
      <p:sp>
        <p:nvSpPr>
          <p:cNvPr id="9" name="Shape 9"/>
          <p:cNvSpPr/>
          <p:nvPr/>
        </p:nvSpPr>
        <p:spPr>
          <a:xfrm>
            <a:off x="6263640" y="1828800"/>
            <a:ext cx="5257800" cy="3429000"/>
          </a:xfrm>
          <a:prstGeom prst="roundRect">
            <a:avLst/>
          </a:prstGeom>
          <a:solidFill>
            <a:srgbClr val="111827"/>
          </a:solidFill>
          <a:ln w="16000">
            <a:solidFill>
              <a:srgbClr val="FB923C"/>
            </a:solidFill>
          </a:ln>
        </p:spPr>
        <p:txBody>
          <a:bodyPr wrap="square" anchor="mid" lIns="201168" rIns="201168" tIns="201168" bIns="201168"/>
          <a:lstStyle/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诚实边界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当前是可信内网 MVP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单 Workspace、SQLite、本地 session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O2 / Web / Data Provider 依赖演示机凭证</a:t>
            </a:r>
          </a:p>
          <a:p>
            <a:pPr algn="l"/>
            <a:r>
              <a:rPr lang="zh-CN" sz="1600" b="1">
                <a:solidFill>
                  <a:srgbClr val="F8FAFC"/>
                </a:solidFill>
                <a:latin typeface="Microsoft YaHei"/>
                <a:ea typeface="Microsoft YaHei"/>
              </a:rPr>
              <a:t>• ContributionPoint 已记录，排行榜和兑换规则还没做</a:t>
            </a:r>
          </a:p>
        </p:txBody>
      </p:sp>
      <p:sp>
        <p:nvSpPr>
          <p:cNvPr id="10" name="Shape 10"/>
          <p:cNvSpPr/>
          <p:nvPr/>
        </p:nvSpPr>
        <p:spPr>
          <a:xfrm>
            <a:off x="1051560" y="5532120"/>
            <a:ext cx="10104120" cy="438912"/>
          </a:xfrm>
          <a:prstGeom prst="roundRect">
            <a:avLst/>
          </a:prstGeom>
          <a:solidFill>
            <a:srgbClr val="6D28D9"/>
          </a:solidFill>
          <a:ln w="16000">
            <a:solidFill>
              <a:srgbClr val="6D28D9"/>
            </a:solidFill>
          </a:ln>
        </p:spPr>
        <p:txBody>
          <a:bodyPr wrap="square" anchor="mid" lIns="73152" rIns="73152" tIns="73152" bIns="73152"/>
          <a:lstStyle/>
          <a:p>
            <a:pPr algn="ctr"/>
            <a:r>
              <a:rPr lang="zh-CN" sz="1800" b="1">
                <a:solidFill>
                  <a:srgbClr val="F8FAFC"/>
                </a:solidFill>
                <a:latin typeface="Microsoft YaHei"/>
                <a:ea typeface="Microsoft YaHei"/>
              </a:rPr>
              <a:t>AgentMesh：安全、可审计、会协作、会记忆的团队数字员工体系。</a:t>
            </a:r>
          </a:p>
        </p:txBody>
      </p:sp>
      <p:sp>
        <p:nvSpPr>
          <p:cNvPr id="11" name="Shape 11"/>
          <p:cNvSpPr/>
          <p:nvPr/>
        </p:nvSpPr>
        <p:spPr>
          <a:xfrm>
            <a:off x="502920" y="6144768"/>
            <a:ext cx="11201400" cy="420624"/>
          </a:xfrm>
          <a:prstGeom prst="roundRect">
            <a:avLst/>
          </a:prstGeom>
          <a:solidFill>
            <a:srgbClr val="172033"/>
          </a:solidFill>
          <a:ln w="16000">
            <a:solidFill>
              <a:srgbClr val="334155"/>
            </a:solidFill>
          </a:ln>
        </p:spPr>
        <p:txBody>
          <a:bodyPr wrap="square" anchor="mid" lIns="109728" rIns="109728" tIns="109728" bIns="109728"/>
          <a:lstStyle/>
          <a:p>
            <a:pPr algn="l"/>
            <a:r>
              <a:rPr lang="zh-CN" sz="1100" b="0">
                <a:solidFill>
                  <a:srgbClr val="94A3B8"/>
                </a:solidFill>
                <a:latin typeface="Microsoft YaHei"/>
                <a:ea typeface="Microsoft YaHei"/>
              </a:rPr>
              <a:t>口播提示：最后 10 秒直接收口：每个阶段都有 Agent 接力，每一步都有来源和审计，经验不会散。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2026-07-10T03:17:32.0910000Z</dcterms:created>
  <dcterms:modified xsi:type="dcterms:W3CDTF">2026-07-10T03:17:32.0910000Z</dcterms:modified>
</coreProperties>
</file>